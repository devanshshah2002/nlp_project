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63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BE9F0-AC37-0B3A-2E3C-DF47D0AC0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C6C79-6675-3B53-50FF-67CB77EAD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E54CDE-4A92-4412-53BC-4EA1876F7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AB9B7-82F2-D577-D63C-764C791BB4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9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4173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Adaptive-RAG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703310" y="2331590"/>
            <a:ext cx="4114800" cy="2743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2468881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Devansh Shah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" y="2788921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CS 6263 — Natural Language Processing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Problem Statement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E9AA7"/>
                </a:solidFill>
              </a:rPr>
              <a:t>One-size-fits-all RAG strategies fail in the real world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910107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910107"/>
            <a:ext cx="402336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2019835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Single-Step / No Retrieval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58747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45"/>
                </a:solidFill>
              </a:rPr>
              <a:t>Fast and simple but fails on complex multi-hop questions requiring reasoning across multiple documents.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3235987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0F0"/>
          </a:solidFill>
          <a:ln w="12700">
            <a:solidFill>
              <a:srgbClr val="FF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3281707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63946"/>
                </a:solidFill>
              </a:rPr>
              <a:t>❌  "When did the people who captured Malakoff come to the region where Philipsburg is located?"  → Requires 4 reasoning steps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4150387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</a:rPr>
              <a:t>RESULT: INACCURATE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910107"/>
            <a:ext cx="40233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46320" y="1910107"/>
            <a:ext cx="40233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2019835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Multi-Step Retrieval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83480" y="2458747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2E45"/>
                </a:solidFill>
              </a:rPr>
              <a:t>Powerful but wasteful for simple queries, iteratively accessing LLMs and retrievers k times is massive overhead.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3235987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FFFBF0"/>
          </a:solidFill>
          <a:ln w="12700">
            <a:solidFill>
              <a:srgbClr val="FFE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74920" y="3281707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F4A261"/>
                </a:solidFill>
              </a:rPr>
              <a:t>⚠️  "Paris is the capital of what?"  → Running k retrieval-generation cycles is completely unnecessary overhead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83480" y="4150387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</a:rPr>
              <a:t>RESULT: INEFFICIENT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4666034"/>
            <a:ext cx="8595360" cy="47746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4470427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</a:rPr>
              <a:t>The Need: A dynamic, query-aware framework that selects the right retrieval strategy based on what each query actually demands</a:t>
            </a:r>
            <a:endParaRPr lang="en-US" sz="13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A9285B-979E-EB03-5CC7-2552A9B916BF}"/>
              </a:ext>
            </a:extLst>
          </p:cNvPr>
          <p:cNvSpPr txBox="1"/>
          <p:nvPr/>
        </p:nvSpPr>
        <p:spPr>
          <a:xfrm>
            <a:off x="274320" y="961207"/>
            <a:ext cx="859536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Large Language Models (LLMs) alone cannot be fully trusted — they hallucinate, rely solely on parametric memory, and cannot access up-to-date or domain-specific knowledge. Retrieval-Augmented Generation (RAG) was introduced to fix this. But RAG itself has a fundamental flaw: </a:t>
            </a:r>
            <a:r>
              <a:rPr lang="en-US" sz="1400" b="1" dirty="0"/>
              <a:t>not all questions are equally complex.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Background — RAG Strategies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61059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AA7"/>
                </a:solidFill>
              </a:rPr>
              <a:t>Three retrieval strategies exist — each with a fundamental trade-off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880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88036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Single-Step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E45"/>
                </a:solidFill>
              </a:rPr>
              <a:t>Retrieve once → Answer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" y="2103120"/>
            <a:ext cx="2651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" y="2176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✔  Fast, low cost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2560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</a:rPr>
              <a:t>✖  Fails on multi-hop queries — one document is not enough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" y="429768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8328" y="4297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INACCURATE FOR COMPLEX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46120" y="1234440"/>
            <a:ext cx="2880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46120" y="1234440"/>
            <a:ext cx="288036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3756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3756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Multi-Step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55848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E45"/>
                </a:solidFill>
              </a:rPr>
              <a:t>Retrieve k times → Answer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55848" y="2103120"/>
            <a:ext cx="2651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55848" y="2176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✔  Handles complex queries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2560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</a:rPr>
              <a:t>✖  Massive overhead for simple queries — k times LLM + retriever calls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55848" y="429768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55848" y="4297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INEFFICIENT FOR SIMPLE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1234440"/>
            <a:ext cx="28803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63640" y="1234440"/>
            <a:ext cx="2880360" cy="5029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12344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Approach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5508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Adaptive (Ours)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73368" y="17830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2E45"/>
                </a:solidFill>
              </a:rPr>
              <a:t>Classify → Route → Answer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73368" y="2103120"/>
            <a:ext cx="2651760" cy="1828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73368" y="21762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✔  Right strategy for each query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373368" y="256032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</a:rPr>
              <a:t>✖  Requires a complexity classifier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373368" y="429768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73368" y="42976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BEST OF BOTH WORLDS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Core Idea — Adaptive-RAG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891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C4"/>
                </a:solidFill>
              </a:rPr>
              <a:t>Dynamically select the right retrieval strategy based on query complexity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</a:rPr>
              <a:t>"Give each query exactly what it needs — no more, no less"</a:t>
            </a:r>
            <a:endParaRPr lang="en-US" sz="13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96A497B-E9B7-4B01-3FA8-C3732BFD9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77" y="1660187"/>
            <a:ext cx="8843798" cy="18547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Datasets &amp; Training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AA7"/>
                </a:solidFill>
              </a:rPr>
              <a:t>Six benchmarks, zero human labels — a fully automatic training pipeline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023360" cy="30068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4023360" cy="43891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0789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SINGLE-HOP  (Simpler Queries)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09344"/>
            <a:ext cx="3703320" cy="713232"/>
          </a:xfrm>
          <a:prstGeom prst="roundRect">
            <a:avLst>
              <a:gd name="adj" fmla="val 7692"/>
            </a:avLst>
          </a:prstGeom>
          <a:solidFill>
            <a:srgbClr val="EEF9F9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65506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SQuAD v1.1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92938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Questions written by annotators based on documents they read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32304"/>
            <a:ext cx="3703320" cy="713232"/>
          </a:xfrm>
          <a:prstGeom prst="roundRect">
            <a:avLst>
              <a:gd name="adj" fmla="val 7692"/>
            </a:avLst>
          </a:prstGeom>
          <a:solidFill>
            <a:srgbClr val="EEF9F9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4780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Natural Questions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75234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Real user queries collected from Google Search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3255264"/>
            <a:ext cx="3703320" cy="713232"/>
          </a:xfrm>
          <a:prstGeom prst="roundRect">
            <a:avLst>
              <a:gd name="adj" fmla="val 7692"/>
            </a:avLst>
          </a:prstGeom>
          <a:solidFill>
            <a:srgbClr val="EEF9F9"/>
          </a:solidFill>
          <a:ln w="12700">
            <a:solidFill>
              <a:srgbClr val="A8D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3009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TriviaQA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57530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Trivia questions sourced from various quiz websites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1078992"/>
            <a:ext cx="4023360" cy="30068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46320" y="1078992"/>
            <a:ext cx="4023360" cy="438912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107899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MULTI-HOP  (Complex Queries)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1609344"/>
            <a:ext cx="3703320" cy="713232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120640" y="165506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MuSiQue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192938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Queries spanning 2–4 hops, composed from single-hop questions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83480" y="2432304"/>
            <a:ext cx="3703320" cy="713232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247802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HotpotQA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20640" y="275234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Questions linking multiple Wikipedia articles — 2 hops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83480" y="3255264"/>
            <a:ext cx="3703320" cy="713232"/>
          </a:xfrm>
          <a:prstGeom prst="roundRect">
            <a:avLst>
              <a:gd name="adj" fmla="val 7692"/>
            </a:avLst>
          </a:prstGeom>
          <a:solidFill>
            <a:srgbClr val="F0F4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3300984"/>
            <a:ext cx="3429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2WikiMultiHopQA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20640" y="3575304"/>
            <a:ext cx="3429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2E45"/>
                </a:solidFill>
              </a:rPr>
              <a:t>Wikipedia + knowledge graph based, requiring 2-hop reasoning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233672"/>
            <a:ext cx="8595360" cy="832104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259548"/>
            <a:ext cx="8595360" cy="8062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A8DADC"/>
                </a:solidFill>
              </a:rPr>
              <a:t>Retrieval Corpus:  </a:t>
            </a:r>
          </a:p>
          <a:p>
            <a:pPr lvl="4"/>
            <a:r>
              <a:rPr lang="en-US" sz="1400" dirty="0">
                <a:solidFill>
                  <a:srgbClr val="A8DADC"/>
                </a:solidFill>
              </a:rPr>
              <a:t>Single-hop → Wikipedia corpus (Karpukhin et al. 2020)   </a:t>
            </a:r>
          </a:p>
          <a:p>
            <a:r>
              <a:rPr lang="en-US" sz="1400" dirty="0">
                <a:solidFill>
                  <a:srgbClr val="A8DADC"/>
                </a:solidFill>
              </a:rPr>
              <a:t>		Multi-hop → Preprocessed corpus (Trivedi et al. 2023)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A8DADC"/>
                </a:solidFill>
              </a:rPr>
              <a:t>Retriever: BM25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Training Pipeline — How Labels Are Created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960120"/>
            <a:ext cx="868680" cy="868680"/>
          </a:xfrm>
          <a:prstGeom prst="ellipse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960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Sample Queries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400 queries × 6 datasets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= 2,400 total training queries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(no overlap with test set)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194560"/>
            <a:ext cx="16459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50592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26664" y="960120"/>
            <a:ext cx="868680" cy="868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026664" y="960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42032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Run All 3 Strategies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42032" y="2377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Each query → No-Retrieval,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Single-step, Multi-step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via off-the-shelf LLMs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62272" y="2194560"/>
            <a:ext cx="16459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202936" y="960120"/>
            <a:ext cx="868680" cy="868680"/>
          </a:xfrm>
          <a:prstGeom prst="ellipse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02936" y="960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718304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Check Correctness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18304" y="2377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String matching (EM/F1)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against ground truth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No human judge involved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38544" y="2194560"/>
            <a:ext cx="164592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803136" y="914400"/>
            <a:ext cx="20116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79208" y="960120"/>
            <a:ext cx="868680" cy="8686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79208" y="9601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894576" y="19202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Assign A/B/C Label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94576" y="2377440"/>
            <a:ext cx="1828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Priority to simpler.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Fallback: dataset inductive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E45"/>
                </a:solidFill>
              </a:rPr>
              <a:t>bias for unlabeled queries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859536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46888" y="4279392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Silver Labeling: </a:t>
            </a:r>
            <a:r>
              <a:rPr lang="en-US" sz="1200" b="1" dirty="0">
                <a:solidFill>
                  <a:srgbClr val="2EC4B6"/>
                </a:solidFill>
              </a:rPr>
              <a:t>Label A: </a:t>
            </a:r>
            <a:r>
              <a:rPr lang="en-US" sz="1200" dirty="0">
                <a:solidFill>
                  <a:srgbClr val="FFFFFF"/>
                </a:solidFill>
              </a:rPr>
              <a:t>No-Retrieval correct    </a:t>
            </a:r>
            <a:r>
              <a:rPr lang="en-US" sz="1200" b="1" dirty="0">
                <a:solidFill>
                  <a:srgbClr val="0E9AA7"/>
                </a:solidFill>
              </a:rPr>
              <a:t>Label B: </a:t>
            </a:r>
            <a:r>
              <a:rPr lang="en-US" sz="1200" dirty="0">
                <a:solidFill>
                  <a:srgbClr val="FFFFFF"/>
                </a:solidFill>
              </a:rPr>
              <a:t>No-Retrieval fails, Single-step correct    </a:t>
            </a:r>
            <a:r>
              <a:rPr lang="en-US" sz="1200" b="1" dirty="0">
                <a:solidFill>
                  <a:srgbClr val="F4A261"/>
                </a:solidFill>
              </a:rPr>
              <a:t>Label C: </a:t>
            </a:r>
            <a:r>
              <a:rPr lang="en-US" sz="1200" dirty="0">
                <a:solidFill>
                  <a:srgbClr val="FFFFFF"/>
                </a:solidFill>
              </a:rPr>
              <a:t>Both fail, only Multi-step correct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Inductive Bias Fallback (all 3 fail): Single-hop dataset → B  |  Multi-hop dataset → C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98ABA-AA1D-EF0E-B879-09098EBDD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C472C8-CE5A-8905-181C-0D564ACEFD4A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1FC62E-38FD-AE1D-8489-418FBD411E7D}"/>
              </a:ext>
            </a:extLst>
          </p:cNvPr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Training Pipeline — How Labels Are Created</a:t>
            </a:r>
            <a:endParaRPr lang="en-US" sz="2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EA0C79-99FC-C7DC-2293-E9F0CCD86820}"/>
              </a:ext>
            </a:extLst>
          </p:cNvPr>
          <p:cNvSpPr txBox="1"/>
          <p:nvPr/>
        </p:nvSpPr>
        <p:spPr>
          <a:xfrm>
            <a:off x="116732" y="1050411"/>
            <a:ext cx="9027268" cy="3681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b="1" dirty="0"/>
              <a:t>Classifier:</a:t>
            </a:r>
            <a:br>
              <a:rPr lang="en-US" sz="1400" dirty="0"/>
            </a:br>
            <a:r>
              <a:rPr lang="en-US" sz="1400" dirty="0"/>
              <a:t>Model: T5-Large (770M parameters)</a:t>
            </a:r>
          </a:p>
          <a:p>
            <a:pPr lvl="0"/>
            <a:r>
              <a:rPr lang="en-US" sz="1400" dirty="0"/>
              <a:t>Task: Given only the query text, predict A, B, or C</a:t>
            </a:r>
          </a:p>
          <a:p>
            <a:pPr lvl="0"/>
            <a:r>
              <a:rPr lang="en-US" sz="1400" dirty="0"/>
              <a:t>Loss: Cross-entropy</a:t>
            </a:r>
          </a:p>
          <a:p>
            <a:pPr lvl="0"/>
            <a:r>
              <a:rPr lang="en-US" sz="1400" dirty="0"/>
              <a:t>Optimizer: </a:t>
            </a:r>
            <a:r>
              <a:rPr lang="en-US" sz="1400" dirty="0" err="1"/>
              <a:t>AdamW</a:t>
            </a:r>
            <a:endParaRPr lang="en-US" sz="1400" dirty="0"/>
          </a:p>
          <a:p>
            <a:pPr lvl="0"/>
            <a:r>
              <a:rPr lang="en-US" sz="1400" dirty="0"/>
              <a:t>Learning rate: 3e-5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endParaRPr lang="en-US" sz="14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Classifier size experiment:</a:t>
            </a:r>
            <a:endParaRPr lang="en-US" sz="1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Small (60M params) → F1: 45.83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Base (223M params) → F1: 45.97</a:t>
            </a:r>
          </a:p>
          <a:p>
            <a:pPr marL="342900" marR="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Large (770M params) → F1: 46.94</a:t>
            </a:r>
          </a:p>
          <a:p>
            <a:pPr marL="0" marR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Even the smallest 60M classifier performs comparably to the 770M version — meaning this approach works even in resource-constrained settings.</a:t>
            </a:r>
          </a:p>
        </p:txBody>
      </p:sp>
    </p:spTree>
    <p:extLst>
      <p:ext uri="{BB962C8B-B14F-4D97-AF65-F5344CB8AC3E}">
        <p14:creationId xmlns:p14="http://schemas.microsoft.com/office/powerpoint/2010/main" val="2511035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Adaptive-RAG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4B8C4"/>
                </a:solidFill>
              </a:rPr>
              <a:t>One classifier, three strategies — dynamically routing queries to the right solution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383280" y="1234440"/>
            <a:ext cx="2377440" cy="56692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0" y="123444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Incoming Query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35424" y="1801368"/>
            <a:ext cx="73152" cy="3200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017520" y="2025396"/>
            <a:ext cx="310896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A8DAD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2025396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T5-Large Complexity Classifier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3545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DADC"/>
                </a:solidFill>
              </a:rPr>
              <a:t>Predicts A, B, or 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237744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237744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" y="2834640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 — No Retrieval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2278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= LLM(q)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3611880"/>
            <a:ext cx="2231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"Paris is the capital of what?"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83280" y="2834640"/>
            <a:ext cx="237744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383280" y="2834640"/>
            <a:ext cx="2377440" cy="34747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56432" y="2834640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 — Single-Step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32278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= LLM(q, d)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56432" y="3611880"/>
            <a:ext cx="2231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"When is Michael Phelps' birthday?"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309360" y="2834640"/>
            <a:ext cx="2377440" cy="1554480"/>
          </a:xfrm>
          <a:prstGeom prst="rect">
            <a:avLst/>
          </a:prstGeom>
          <a:solidFill>
            <a:srgbClr val="243B55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309360" y="2834640"/>
            <a:ext cx="237744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82512" y="2834640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 — Multi-Step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82512" y="3227832"/>
            <a:ext cx="22311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 = LLM(q, dᵢ, cᵢ)  ×k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82512" y="3611880"/>
            <a:ext cx="22311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"What currency is in Billy Giles' birthplace?"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83280" y="4480560"/>
            <a:ext cx="2377440" cy="3474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383280" y="44805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 Answer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Case Study — Why Routing Matters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8476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AA7"/>
                </a:solidFill>
              </a:rPr>
              <a:t>Wrong routing hurts both ways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4864" cy="169164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9AA7"/>
                </a:solidFill>
              </a:rPr>
              <a:t>SIMPLE QUERY — Natural Questions Dataset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</a:rPr>
              <a:t>"Which famous corporate logo changed to a flat colour sans serif font in its first major change since 1999?"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</a:rPr>
              <a:t>Adaptive Retrieval  →  Routes to B (fetches docs)  →  Confused by irrelevant Microsoft info  →  ❌ Wrong: Microsoft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Adaptive-RAG  →  Correctly routes to A (no retrieval)  →  Uses LLM parametric knowledge  →  ✔ Correct: Google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42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Lesson: Unnecessary retrieval introduces noise and hurts simple queries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90672"/>
            <a:ext cx="85953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090672"/>
            <a:ext cx="54864" cy="1783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1363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COMPLEX QUERY — MuSiQue Dataset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1B2A"/>
                </a:solidFill>
              </a:rPr>
              <a:t>"Who is the child of the Italian navigator who explored the eastern coast of the continent César Gaytan was born in for the English?"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8221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</a:rPr>
              <a:t>Adaptive Retrieval  →  Routes to A (no retrieval)  →  Missing key facts about Cabot's son  →  ❌ Wrong: John Cabot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E7D32"/>
                </a:solidFill>
              </a:rPr>
              <a:t>Adaptive-RAG  →  Routes to C (multi-step)  →  Finds César Gaytan → John Cabot → Sebastian Cabot  →  ✔ Correct: Sebastian Cabot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44398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</a:rPr>
              <a:t>Lesson: Complex queries need iterative retrieval — LLM memory alone is insufficient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Key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9AA7"/>
                </a:solidFill>
              </a:rPr>
              <a:t>Near multi-step accuracy at half the cost — but the oracle gap reveals room to grow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07008"/>
          <a:ext cx="5029200" cy="3200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(relative)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B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Single-step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1.00×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 Retrieval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Approach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Adaptive-RAG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50.91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E9A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B2E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Adaptive-RAG w/ Oracle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4A2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1.03×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1207008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577840" y="1207008"/>
            <a:ext cx="54864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715000" y="12527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9AA7"/>
                </a:solidFill>
              </a:rPr>
              <a:t>50.91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715000" y="170992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F1 Score</a:t>
            </a:r>
            <a:endParaRPr lang="en-US" sz="1100" dirty="0"/>
          </a:p>
        </p:txBody>
      </p:sp>
      <p:sp>
        <p:nvSpPr>
          <p:cNvPr id="5" name="Text 7"/>
          <p:cNvSpPr/>
          <p:nvPr/>
        </p:nvSpPr>
        <p:spPr>
          <a:xfrm>
            <a:off x="5715000" y="189280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matches multi-step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577840" y="2258568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577840" y="2258568"/>
            <a:ext cx="54864" cy="914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715000" y="230428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EC4B6"/>
                </a:solidFill>
              </a:rPr>
              <a:t>1.46×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5715000" y="276148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Time/Query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15000" y="294436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vs 3.33× multi-step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77840" y="3310128"/>
            <a:ext cx="3291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77840" y="3310128"/>
            <a:ext cx="54864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715000" y="3355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4A261"/>
                </a:solidFill>
              </a:rPr>
              <a:t>+12 pts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5715000" y="3813048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Oracle Gap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715000" y="3995928"/>
            <a:ext cx="3017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F1 improvement possible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4498848"/>
            <a:ext cx="8595360" cy="5486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5760" y="449884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Label Distribution:  </a:t>
            </a:r>
            <a:r>
              <a:rPr lang="en-US" sz="1100" dirty="0">
                <a:solidFill>
                  <a:srgbClr val="2EC4B6"/>
                </a:solidFill>
              </a:rPr>
              <a:t>A (No Retrieval) = 8.60%  </a:t>
            </a:r>
            <a:r>
              <a:rPr lang="en-US" sz="1100" dirty="0">
                <a:solidFill>
                  <a:srgbClr val="0E9AA7"/>
                </a:solidFill>
              </a:rPr>
              <a:t>B (Single-step) = 53.33%  </a:t>
            </a:r>
            <a:r>
              <a:rPr lang="en-US" sz="1100" dirty="0">
                <a:solidFill>
                  <a:srgbClr val="F4A261"/>
                </a:solidFill>
              </a:rPr>
              <a:t>C (Multi-step) = 38.07%  </a:t>
            </a:r>
            <a:r>
              <a:rPr lang="en-US" sz="1100" i="1" dirty="0">
                <a:solidFill>
                  <a:srgbClr val="94A3B8"/>
                </a:solidFill>
              </a:rPr>
              <a:t>→ Most real queries only need one retrieval step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Evaluation &amp; Limitations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9260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926080" cy="41148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EVALUATION METRICS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F1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93852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Overlapping words between predicted &amp; ground truth. Partial credit given.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3408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Exact Match (EM)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603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Binary — predicted answer must exactly match ground truth.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962656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Accuracy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18211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Checks if predicted answer contains ground truth anywhere.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58444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Steps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80390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Avg number of retrieval-and-generate cycles per query.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42062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442569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Avg time per query relative to single-step (1.00× baseline).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0" y="123444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474720" y="1234440"/>
            <a:ext cx="5394960" cy="4114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11880" y="12344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FLAWS &amp; LIMITATIONS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84448" y="1719072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703320" y="171907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Post-Routing 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03320" y="192024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Once classified A/B/C, fully committed. No escalation if answer quality is poor.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84448" y="2231136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703320" y="2231136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Noisy Automatic Labels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2432304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Silver labels from LLM predictions — when all 3 fail, falls back to crude dataset bias.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584448" y="2743200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703320" y="274320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String Matching as Judge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703320" y="2944368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Semantically correct but differently worded answers marked wrong, poisoning labels.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584448" y="3255264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03320" y="325526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BM25 Only Retrieval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3456432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Keyword matching misses semantic similarity. "Car accident" ≠ "automobile crash".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584448" y="3767328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703320" y="3767328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Significant Oracle Gap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703320" y="3968496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Current F1: 50.91  vs  Oracle F1: 62.80 — nearly 12 points left on the table.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584448" y="4279392"/>
            <a:ext cx="54864" cy="402336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03320" y="427939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Single Domain, English Only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03320" y="4480560"/>
            <a:ext cx="502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E45"/>
                </a:solidFill>
              </a:rPr>
              <a:t>All 6 datasets are general Wikipedia knowledge. No domain-specific testing.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Our Improvements to Adaptive-RAG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8595360" cy="1298448"/>
          </a:xfrm>
          <a:prstGeom prst="rect">
            <a:avLst/>
          </a:prstGeom>
          <a:solidFill>
            <a:srgbClr val="243B55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54864" cy="129844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987552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9AA7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51560" y="978408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Confidence-Aware Feedback Loop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560" y="1307592"/>
            <a:ext cx="2560320" cy="210312"/>
          </a:xfrm>
          <a:prstGeom prst="roundRect">
            <a:avLst>
              <a:gd name="adj" fmla="val 17391"/>
            </a:avLst>
          </a:prstGeom>
          <a:solidFill>
            <a:srgbClr val="0E9AA7">
              <a:alpha val="30000"/>
            </a:srgbClr>
          </a:solidFill>
          <a:ln w="12700">
            <a:solidFill>
              <a:srgbClr val="0E9AA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51560" y="1307592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Addresses: Oracle Gap + No Feedback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1560" y="1554480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</a:rPr>
              <a:t>Judge LLM evaluates every answer on 3 dimensions: completeness, confidence score, and whether it addresses the question. Low confidence → escalate A→B→C. Catches classifier misclassification at runtime.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22576"/>
            <a:ext cx="8595360" cy="1298448"/>
          </a:xfrm>
          <a:prstGeom prst="rect">
            <a:avLst/>
          </a:prstGeom>
          <a:solidFill>
            <a:srgbClr val="243B55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322576"/>
            <a:ext cx="54864" cy="12984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2395728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</a:rPr>
              <a:t>02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386584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Semantic Vector Retrieval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51560" y="2715768"/>
            <a:ext cx="2560320" cy="210312"/>
          </a:xfrm>
          <a:prstGeom prst="roundRect">
            <a:avLst>
              <a:gd name="adj" fmla="val 17391"/>
            </a:avLst>
          </a:prstGeom>
          <a:solidFill>
            <a:srgbClr val="F4A261">
              <a:alpha val="30000"/>
            </a:srgbClr>
          </a:solidFill>
          <a:ln w="12700">
            <a:solidFill>
              <a:srgbClr val="F4A26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51560" y="2715768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Addresses: BM25 Keyword Limitation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051560" y="2962656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</a:rPr>
              <a:t>Replace BM25 with dense vector similarity search. Embeds documents and queries into semantic space — "car accident" matches "automobile crash". Phase 1: pure vector. Phase 2: hybrid BM25 + vector.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3730752"/>
            <a:ext cx="8595360" cy="1298448"/>
          </a:xfrm>
          <a:prstGeom prst="rect">
            <a:avLst/>
          </a:prstGeom>
          <a:solidFill>
            <a:srgbClr val="243B55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730752"/>
            <a:ext cx="54864" cy="129844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11480" y="3803904"/>
            <a:ext cx="594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C4B6"/>
                </a:solidFill>
              </a:rPr>
              <a:t>03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79476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Geopolitical Domain Extension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51560" y="4123944"/>
            <a:ext cx="2560320" cy="210312"/>
          </a:xfrm>
          <a:prstGeom prst="roundRect">
            <a:avLst>
              <a:gd name="adj" fmla="val 17391"/>
            </a:avLst>
          </a:prstGeom>
          <a:solidFill>
            <a:srgbClr val="2EC4B6">
              <a:alpha val="30000"/>
            </a:srgbClr>
          </a:solidFill>
          <a:ln w="12700">
            <a:solidFill>
              <a:srgbClr val="2EC4B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4123944"/>
            <a:ext cx="25603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Addresses: Single Domain Limitation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1560" y="4261104"/>
            <a:ext cx="7635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DADC"/>
                </a:solidFill>
              </a:rPr>
              <a:t>Extend to geopolitical corpus: multi-hop by nature, temporally sensitive, conflicting sources, complex entity relationships. Dataset and corpus source per professor guidance.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Complete Improved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261872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Query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536192" y="1353312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19072" y="960120"/>
            <a:ext cx="1261872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19072" y="96012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 / B / 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0944" y="1353312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63824" y="960120"/>
            <a:ext cx="1261872" cy="9144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163824" y="96012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Vector DB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Retrieval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25696" y="1353312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08576" y="960120"/>
            <a:ext cx="1261872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08576" y="96012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Answer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70448" y="1353312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53328" y="960120"/>
            <a:ext cx="1261872" cy="9144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53328" y="96012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Judge LLM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Evaluates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0" y="1353312"/>
            <a:ext cx="182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498080" y="960120"/>
            <a:ext cx="1261872" cy="9144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98080" y="960120"/>
            <a:ext cx="12618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Confident?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Final Answer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0" y="1993392"/>
            <a:ext cx="2743200" cy="320040"/>
          </a:xfrm>
          <a:prstGeom prst="roundRect">
            <a:avLst>
              <a:gd name="adj" fmla="val 17143"/>
            </a:avLst>
          </a:prstGeom>
          <a:solidFill>
            <a:srgbClr val="FFF0E0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00400" y="1993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</a:rPr>
              <a:t>↑ If low confidence → Escalate A→B→C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0" y="242316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560320" y="24231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9AA7"/>
                </a:solidFill>
              </a:rPr>
              <a:t>② Better retrieval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0E9AA7"/>
                </a:solidFill>
              </a:rPr>
              <a:t>from the start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0" y="2423160"/>
            <a:ext cx="19202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760720" y="2423160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① Catches bad routing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4A261"/>
                </a:solidFill>
              </a:rPr>
              <a:t>at runtime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0" y="3127248"/>
            <a:ext cx="2743200" cy="438912"/>
          </a:xfrm>
          <a:prstGeom prst="roundRect">
            <a:avLst>
              <a:gd name="adj" fmla="val 12500"/>
            </a:avLst>
          </a:prstGeom>
          <a:solidFill>
            <a:srgbClr val="E8F5E9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0" y="312724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</a:rPr>
              <a:t>③ Later: Geopolitical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EC4B6"/>
                </a:solidFill>
              </a:rPr>
              <a:t>corpus per professor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5954" y="34359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Honest Tradeoffs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510406"/>
              </p:ext>
            </p:extLst>
          </p:nvPr>
        </p:nvGraphicFramePr>
        <p:xfrm>
          <a:off x="310896" y="3758542"/>
          <a:ext cx="8595360" cy="129540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Gain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9A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39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semantic retrieval quality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model inference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misclassification at runtime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LLM adds latency per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domain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Geopolitical corpus curation effort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3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the 12pt oracle gap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LLM calls per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0E9AA7">
              <a:alpha val="15000"/>
            </a:srgbClr>
          </a:solidFill>
          <a:ln w="12700">
            <a:solidFill>
              <a:srgbClr val="0E9AA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71600" y="109728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457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242316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8DADC"/>
                </a:solidFill>
              </a:rPr>
              <a:t>Questions &amp; Discussion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971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9AA7"/>
                </a:solidFill>
              </a:rPr>
              <a:t>Devansh Shah  ·  CS 6263 Natural Language Processing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1466</Words>
  <Application>Microsoft Office PowerPoint</Application>
  <PresentationFormat>On-screen Show (16:9)</PresentationFormat>
  <Paragraphs>238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Consolas</vt:lpstr>
      <vt:lpstr>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Adaptive-RAG</dc:title>
  <dc:subject>PptxGenJS Presentation</dc:subject>
  <dc:creator>PptxGenJS</dc:creator>
  <cp:lastModifiedBy>Devansh Vipulbhai Shah</cp:lastModifiedBy>
  <cp:revision>3</cp:revision>
  <dcterms:created xsi:type="dcterms:W3CDTF">2026-04-21T00:46:59Z</dcterms:created>
  <dcterms:modified xsi:type="dcterms:W3CDTF">2026-04-21T05:35:56Z</dcterms:modified>
</cp:coreProperties>
</file>